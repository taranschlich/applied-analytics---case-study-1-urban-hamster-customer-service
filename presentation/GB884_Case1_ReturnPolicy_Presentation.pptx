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2AB8D7-C83B-429C-BBB3-88322E3328BD}" v="432" dt="2026-05-21T22:18:38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n Schlichtmann" userId="fa341e061f349481" providerId="LiveId" clId="{E98D3F9C-6EE3-414F-B938-06362BDADCD8}"/>
    <pc:docChg chg="undo custSel modSld sldOrd">
      <pc:chgData name="Taran Schlichtmann" userId="fa341e061f349481" providerId="LiveId" clId="{E98D3F9C-6EE3-414F-B938-06362BDADCD8}" dt="2026-05-21T22:23:10.057" v="1018" actId="207"/>
      <pc:docMkLst>
        <pc:docMk/>
      </pc:docMkLst>
      <pc:sldChg chg="addSp delSp modSp mod">
        <pc:chgData name="Taran Schlichtmann" userId="fa341e061f349481" providerId="LiveId" clId="{E98D3F9C-6EE3-414F-B938-06362BDADCD8}" dt="2026-05-21T22:23:10.057" v="1018" actId="207"/>
        <pc:sldMkLst>
          <pc:docMk/>
          <pc:sldMk cId="0" sldId="256"/>
        </pc:sldMkLst>
        <pc:spChg chg="mod">
          <ac:chgData name="Taran Schlichtmann" userId="fa341e061f349481" providerId="LiveId" clId="{E98D3F9C-6EE3-414F-B938-06362BDADCD8}" dt="2026-05-20T01:34:40.551" v="44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23:06.991" v="1017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1:34:29.396" v="4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1:34:25.171" v="41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23:10.057" v="1018" actId="207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Taran Schlichtmann" userId="fa341e061f349481" providerId="LiveId" clId="{E98D3F9C-6EE3-414F-B938-06362BDADCD8}" dt="2026-05-21T22:19:15.452" v="1015" actId="478"/>
          <ac:spMkLst>
            <pc:docMk/>
            <pc:sldMk cId="0" sldId="256"/>
            <ac:spMk id="9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1:33:48.247" v="33" actId="20577"/>
          <ac:spMkLst>
            <pc:docMk/>
            <pc:sldMk cId="0" sldId="256"/>
            <ac:spMk id="10" creationId="{00000000-0000-0000-0000-000000000000}"/>
          </ac:spMkLst>
        </pc:spChg>
        <pc:picChg chg="add mod">
          <ac:chgData name="Taran Schlichtmann" userId="fa341e061f349481" providerId="LiveId" clId="{E98D3F9C-6EE3-414F-B938-06362BDADCD8}" dt="2026-05-21T22:19:24.619" v="1016" actId="1076"/>
          <ac:picMkLst>
            <pc:docMk/>
            <pc:sldMk cId="0" sldId="256"/>
            <ac:picMk id="12" creationId="{86573F06-2EA7-B363-13B2-11D7EDCFD428}"/>
          </ac:picMkLst>
        </pc:picChg>
      </pc:sldChg>
      <pc:sldChg chg="addSp delSp modSp mod">
        <pc:chgData name="Taran Schlichtmann" userId="fa341e061f349481" providerId="LiveId" clId="{E98D3F9C-6EE3-414F-B938-06362BDADCD8}" dt="2026-05-21T22:18:41.943" v="1011" actId="1076"/>
        <pc:sldMkLst>
          <pc:docMk/>
          <pc:sldMk cId="0" sldId="257"/>
        </pc:sldMkLst>
        <pc:spChg chg="del mod">
          <ac:chgData name="Taran Schlichtmann" userId="fa341e061f349481" providerId="LiveId" clId="{E98D3F9C-6EE3-414F-B938-06362BDADCD8}" dt="2026-05-20T01:52:46.154" v="177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Taran Schlichtmann" userId="fa341e061f349481" providerId="LiveId" clId="{E98D3F9C-6EE3-414F-B938-06362BDADCD8}" dt="2026-05-20T01:52:44.059" v="175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Taran Schlichtmann" userId="fa341e061f349481" providerId="LiveId" clId="{E98D3F9C-6EE3-414F-B938-06362BDADCD8}" dt="2026-05-20T01:52:41.268" v="172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Taran Schlichtmann" userId="fa341e061f349481" providerId="LiveId" clId="{E98D3F9C-6EE3-414F-B938-06362BDADCD8}" dt="2026-05-20T01:52:42.909" v="174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Taran Schlichtmann" userId="fa341e061f349481" providerId="LiveId" clId="{E98D3F9C-6EE3-414F-B938-06362BDADCD8}" dt="2026-05-20T01:52:49.080" v="178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Taran Schlichtmann" userId="fa341e061f349481" providerId="LiveId" clId="{E98D3F9C-6EE3-414F-B938-06362BDADCD8}" dt="2026-05-20T01:52:31.944" v="165" actId="478"/>
          <ac:spMkLst>
            <pc:docMk/>
            <pc:sldMk cId="0" sldId="257"/>
            <ac:spMk id="10" creationId="{00000000-0000-0000-0000-000000000000}"/>
          </ac:spMkLst>
        </pc:spChg>
        <pc:spChg chg="del mod">
          <ac:chgData name="Taran Schlichtmann" userId="fa341e061f349481" providerId="LiveId" clId="{E98D3F9C-6EE3-414F-B938-06362BDADCD8}" dt="2026-05-20T01:52:40.379" v="171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1:38:51.700" v="99" actId="20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2:19:19.588" v="805" actId="1076"/>
          <ac:spMkLst>
            <pc:docMk/>
            <pc:sldMk cId="0" sldId="257"/>
            <ac:spMk id="13" creationId="{00000000-0000-0000-0000-000000000000}"/>
          </ac:spMkLst>
        </pc:spChg>
        <pc:spChg chg="del mod">
          <ac:chgData name="Taran Schlichtmann" userId="fa341e061f349481" providerId="LiveId" clId="{E98D3F9C-6EE3-414F-B938-06362BDADCD8}" dt="2026-05-20T01:57:02.164" v="234" actId="478"/>
          <ac:spMkLst>
            <pc:docMk/>
            <pc:sldMk cId="0" sldId="257"/>
            <ac:spMk id="14" creationId="{00000000-0000-0000-0000-000000000000}"/>
          </ac:spMkLst>
        </pc:spChg>
        <pc:spChg chg="del mod">
          <ac:chgData name="Taran Schlichtmann" userId="fa341e061f349481" providerId="LiveId" clId="{E98D3F9C-6EE3-414F-B938-06362BDADCD8}" dt="2026-05-20T01:57:00.224" v="233" actId="478"/>
          <ac:spMkLst>
            <pc:docMk/>
            <pc:sldMk cId="0" sldId="257"/>
            <ac:spMk id="15" creationId="{00000000-0000-0000-0000-000000000000}"/>
          </ac:spMkLst>
        </pc:spChg>
        <pc:spChg chg="del mod">
          <ac:chgData name="Taran Schlichtmann" userId="fa341e061f349481" providerId="LiveId" clId="{E98D3F9C-6EE3-414F-B938-06362BDADCD8}" dt="2026-05-20T01:56:58.614" v="232" actId="47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1:57:09.453" v="235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1:38:22.283" v="96" actId="20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2:20:32.354" v="816" actId="255"/>
          <ac:spMkLst>
            <pc:docMk/>
            <pc:sldMk cId="0" sldId="257"/>
            <ac:spMk id="21" creationId="{00000000-0000-0000-0000-000000000000}"/>
          </ac:spMkLst>
        </pc:spChg>
        <pc:spChg chg="add mod">
          <ac:chgData name="Taran Schlichtmann" userId="fa341e061f349481" providerId="LiveId" clId="{E98D3F9C-6EE3-414F-B938-06362BDADCD8}" dt="2026-05-21T22:18:41.943" v="1011" actId="1076"/>
          <ac:spMkLst>
            <pc:docMk/>
            <pc:sldMk cId="0" sldId="257"/>
            <ac:spMk id="28" creationId="{7E9DB464-3701-4929-1344-3361CE01A2C0}"/>
          </ac:spMkLst>
        </pc:spChg>
        <pc:spChg chg="add mod">
          <ac:chgData name="Taran Schlichtmann" userId="fa341e061f349481" providerId="LiveId" clId="{E98D3F9C-6EE3-414F-B938-06362BDADCD8}" dt="2026-05-21T21:57:21.497" v="821" actId="1076"/>
          <ac:spMkLst>
            <pc:docMk/>
            <pc:sldMk cId="0" sldId="257"/>
            <ac:spMk id="29" creationId="{7E9DB464-3701-4929-1344-3361CE01A2C0}"/>
          </ac:spMkLst>
        </pc:spChg>
        <pc:spChg chg="add mod">
          <ac:chgData name="Taran Schlichtmann" userId="fa341e061f349481" providerId="LiveId" clId="{E98D3F9C-6EE3-414F-B938-06362BDADCD8}" dt="2026-05-21T22:18:34.804" v="1010" actId="1076"/>
          <ac:spMkLst>
            <pc:docMk/>
            <pc:sldMk cId="0" sldId="257"/>
            <ac:spMk id="30" creationId="{7E9DB464-3701-4929-1344-3361CE01A2C0}"/>
          </ac:spMkLst>
        </pc:spChg>
        <pc:spChg chg="add mod">
          <ac:chgData name="Taran Schlichtmann" userId="fa341e061f349481" providerId="LiveId" clId="{E98D3F9C-6EE3-414F-B938-06362BDADCD8}" dt="2026-05-21T22:18:31.823" v="1009" actId="1076"/>
          <ac:spMkLst>
            <pc:docMk/>
            <pc:sldMk cId="0" sldId="257"/>
            <ac:spMk id="31" creationId="{7E9DB464-3701-4929-1344-3361CE01A2C0}"/>
          </ac:spMkLst>
        </pc:spChg>
        <pc:spChg chg="add mod">
          <ac:chgData name="Taran Schlichtmann" userId="fa341e061f349481" providerId="LiveId" clId="{E98D3F9C-6EE3-414F-B938-06362BDADCD8}" dt="2026-05-21T22:18:24.791" v="1008" actId="1076"/>
          <ac:spMkLst>
            <pc:docMk/>
            <pc:sldMk cId="0" sldId="257"/>
            <ac:spMk id="32" creationId="{7E9DB464-3701-4929-1344-3361CE01A2C0}"/>
          </ac:spMkLst>
        </pc:spChg>
        <pc:graphicFrameChg chg="add del mod">
          <ac:chgData name="Taran Schlichtmann" userId="fa341e061f349481" providerId="LiveId" clId="{E98D3F9C-6EE3-414F-B938-06362BDADCD8}" dt="2026-05-20T01:47:13.617" v="159" actId="478"/>
          <ac:graphicFrameMkLst>
            <pc:docMk/>
            <pc:sldMk cId="0" sldId="257"/>
            <ac:graphicFrameMk id="24" creationId="{A5108A2B-CE4A-7691-3DFF-E844A1A17F3E}"/>
          </ac:graphicFrameMkLst>
        </pc:graphicFrameChg>
        <pc:graphicFrameChg chg="add mod">
          <ac:chgData name="Taran Schlichtmann" userId="fa341e061f349481" providerId="LiveId" clId="{E98D3F9C-6EE3-414F-B938-06362BDADCD8}" dt="2026-05-21T22:17:37.276" v="994" actId="404"/>
          <ac:graphicFrameMkLst>
            <pc:docMk/>
            <pc:sldMk cId="0" sldId="257"/>
            <ac:graphicFrameMk id="25" creationId="{6A38D077-875C-4360-049B-446F9D10F04B}"/>
          </ac:graphicFrameMkLst>
        </pc:graphicFrameChg>
        <pc:graphicFrameChg chg="add del mod">
          <ac:chgData name="Taran Schlichtmann" userId="fa341e061f349481" providerId="LiveId" clId="{E98D3F9C-6EE3-414F-B938-06362BDADCD8}" dt="2026-05-20T01:56:07.895" v="209" actId="478"/>
          <ac:graphicFrameMkLst>
            <pc:docMk/>
            <pc:sldMk cId="0" sldId="257"/>
            <ac:graphicFrameMk id="26" creationId="{6D6060F4-9069-7CD6-DD05-9108633862EB}"/>
          </ac:graphicFrameMkLst>
        </pc:graphicFrameChg>
        <pc:graphicFrameChg chg="add mod">
          <ac:chgData name="Taran Schlichtmann" userId="fa341e061f349481" providerId="LiveId" clId="{E98D3F9C-6EE3-414F-B938-06362BDADCD8}" dt="2026-05-21T22:18:06.884" v="1007" actId="207"/>
          <ac:graphicFrameMkLst>
            <pc:docMk/>
            <pc:sldMk cId="0" sldId="257"/>
            <ac:graphicFrameMk id="27" creationId="{6D6060F4-9069-7CD6-DD05-9108633862EB}"/>
          </ac:graphicFrameMkLst>
        </pc:graphicFrameChg>
      </pc:sldChg>
      <pc:sldChg chg="addSp delSp modSp mod">
        <pc:chgData name="Taran Schlichtmann" userId="fa341e061f349481" providerId="LiveId" clId="{E98D3F9C-6EE3-414F-B938-06362BDADCD8}" dt="2026-05-21T22:16:26.959" v="952"/>
        <pc:sldMkLst>
          <pc:docMk/>
          <pc:sldMk cId="0" sldId="258"/>
        </pc:sldMkLst>
        <pc:spChg chg="del mod">
          <ac:chgData name="Taran Schlichtmann" userId="fa341e061f349481" providerId="LiveId" clId="{E98D3F9C-6EE3-414F-B938-06362BDADCD8}" dt="2026-05-20T02:13:15.402" v="688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Taran Schlichtmann" userId="fa341e061f349481" providerId="LiveId" clId="{E98D3F9C-6EE3-414F-B938-06362BDADCD8}" dt="2026-05-20T02:13:16.257" v="689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Taran Schlichtmann" userId="fa341e061f349481" providerId="LiveId" clId="{E98D3F9C-6EE3-414F-B938-06362BDADCD8}" dt="2026-05-20T02:13:16.791" v="690" actId="478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Taran Schlichtmann" userId="fa341e061f349481" providerId="LiveId" clId="{E98D3F9C-6EE3-414F-B938-06362BDADCD8}" dt="2026-05-20T02:13:18.696" v="692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Taran Schlichtmann" userId="fa341e061f349481" providerId="LiveId" clId="{E98D3F9C-6EE3-414F-B938-06362BDADCD8}" dt="2026-05-20T02:13:19.581" v="693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Taran Schlichtmann" userId="fa341e061f349481" providerId="LiveId" clId="{E98D3F9C-6EE3-414F-B938-06362BDADCD8}" dt="2026-05-20T02:13:20.196" v="694" actId="478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Taran Schlichtmann" userId="fa341e061f349481" providerId="LiveId" clId="{E98D3F9C-6EE3-414F-B938-06362BDADCD8}" dt="2026-05-20T02:13:30.506" v="701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Taran Schlichtmann" userId="fa341e061f349481" providerId="LiveId" clId="{E98D3F9C-6EE3-414F-B938-06362BDADCD8}" dt="2026-05-20T02:13:27.552" v="699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Taran Schlichtmann" userId="fa341e061f349481" providerId="LiveId" clId="{E98D3F9C-6EE3-414F-B938-06362BDADCD8}" dt="2026-05-20T02:13:26.137" v="698" actId="478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Taran Schlichtmann" userId="fa341e061f349481" providerId="LiveId" clId="{E98D3F9C-6EE3-414F-B938-06362BDADCD8}" dt="2026-05-20T02:13:28.991" v="700" actId="478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2:18:17.858" v="801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5:22.271" v="932" actId="40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1:32:19.949" v="23" actId="20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5:19.332" v="931" actId="403"/>
          <ac:spMkLst>
            <pc:docMk/>
            <pc:sldMk cId="0" sldId="258"/>
            <ac:spMk id="21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5:15.676" v="930" actId="403"/>
          <ac:spMkLst>
            <pc:docMk/>
            <pc:sldMk cId="0" sldId="258"/>
            <ac:spMk id="22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4:53.608" v="925" actId="403"/>
          <ac:spMkLst>
            <pc:docMk/>
            <pc:sldMk cId="0" sldId="258"/>
            <ac:spMk id="25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5:08.837" v="929" actId="403"/>
          <ac:spMkLst>
            <pc:docMk/>
            <pc:sldMk cId="0" sldId="258"/>
            <ac:spMk id="26" creationId="{00000000-0000-0000-0000-000000000000}"/>
          </ac:spMkLst>
        </pc:spChg>
        <pc:graphicFrameChg chg="add mod">
          <ac:chgData name="Taran Schlichtmann" userId="fa341e061f349481" providerId="LiveId" clId="{E98D3F9C-6EE3-414F-B938-06362BDADCD8}" dt="2026-05-21T22:16:26.959" v="952"/>
          <ac:graphicFrameMkLst>
            <pc:docMk/>
            <pc:sldMk cId="0" sldId="258"/>
            <ac:graphicFrameMk id="27" creationId="{6B4E14DE-4731-EFAF-0557-C6B8360762D0}"/>
          </ac:graphicFrameMkLst>
        </pc:graphicFrameChg>
      </pc:sldChg>
      <pc:sldChg chg="modSp mod ord">
        <pc:chgData name="Taran Schlichtmann" userId="fa341e061f349481" providerId="LiveId" clId="{E98D3F9C-6EE3-414F-B938-06362BDADCD8}" dt="2026-05-21T22:14:43.547" v="924" actId="403"/>
        <pc:sldMkLst>
          <pc:docMk/>
          <pc:sldMk cId="0" sldId="259"/>
        </pc:sldMkLst>
        <pc:spChg chg="mod">
          <ac:chgData name="Taran Schlichtmann" userId="fa341e061f349481" providerId="LiveId" clId="{E98D3F9C-6EE3-414F-B938-06362BDADCD8}" dt="2026-05-21T22:14:43.547" v="924" actId="403"/>
          <ac:spMkLst>
            <pc:docMk/>
            <pc:sldMk cId="0" sldId="259"/>
            <ac:spMk id="5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1:58:41.094" v="828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3:33.143" v="911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3:37.750" v="912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1:58:14.379" v="823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3:20.344" v="909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3:24.619" v="910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1:58:07.200" v="822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3:53.906" v="914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4:03.440" v="916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1:31:26.452" v="13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4:13.362" v="917" actId="403"/>
          <ac:spMkLst>
            <pc:docMk/>
            <pc:sldMk cId="0" sldId="259"/>
            <ac:spMk id="17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4:19.759" v="918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4:23.205" v="919" actId="40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4:27.061" v="920" actId="40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4:29.520" v="921" actId="403"/>
          <ac:spMkLst>
            <pc:docMk/>
            <pc:sldMk cId="0" sldId="259"/>
            <ac:spMk id="23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4:35.929" v="923" actId="403"/>
          <ac:spMkLst>
            <pc:docMk/>
            <pc:sldMk cId="0" sldId="259"/>
            <ac:spMk id="25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1T22:14:33.021" v="922" actId="403"/>
          <ac:spMkLst>
            <pc:docMk/>
            <pc:sldMk cId="0" sldId="259"/>
            <ac:spMk id="26" creationId="{00000000-0000-0000-0000-000000000000}"/>
          </ac:spMkLst>
        </pc:spChg>
        <pc:spChg chg="mod">
          <ac:chgData name="Taran Schlichtmann" userId="fa341e061f349481" providerId="LiveId" clId="{E98D3F9C-6EE3-414F-B938-06362BDADCD8}" dt="2026-05-20T01:31:30.640" v="14" actId="207"/>
          <ac:spMkLst>
            <pc:docMk/>
            <pc:sldMk cId="0" sldId="259"/>
            <ac:spMk id="2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a341e061f349481/Desktop/GB884%20Business%20Questions%20Case%20%5eN1_2026-05-19-194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a341e061f349481/Desktop/GB884%20Business%20Questions%20Case%20%5eN1_2026-05-19-1948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a341e061f349481/Desktop/GB884%20Business%20Questions%20Case%20%5eN1_2026-05-19-1948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Return Rate by Comparison</a:t>
            </a:r>
          </a:p>
        </c:rich>
      </c:tx>
      <c:layout>
        <c:manualLayout>
          <c:xMode val="edge"/>
          <c:yMode val="edge"/>
          <c:x val="0.32752800904870832"/>
          <c:y val="7.24499197060929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067-42A0-9DAA-0459921F0C2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19.3%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067-42A0-9DAA-0459921F0C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'[GB884 Business Questions Case ^N1_2026-05-19-1948.xlsx]GB884 Business Questions Case #'!$A$1:$B$1</c:f>
              <c:strCache>
                <c:ptCount val="2"/>
                <c:pt idx="0">
                  <c:v>Urban Hamster</c:v>
                </c:pt>
                <c:pt idx="1">
                  <c:v>Industry Average (Online Retail)</c:v>
                </c:pt>
              </c:strCache>
            </c:strRef>
          </c:cat>
          <c:val>
            <c:numRef>
              <c:f>'[GB884 Business Questions Case ^N1_2026-05-19-1948.xlsx]GB884 Business Questions Case #'!$A$2:$B$2</c:f>
              <c:numCache>
                <c:formatCode>General</c:formatCode>
                <c:ptCount val="2"/>
                <c:pt idx="0">
                  <c:v>10</c:v>
                </c:pt>
                <c:pt idx="1">
                  <c:v>19.3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67-42A0-9DAA-0459921F0C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631700175"/>
        <c:axId val="1631698735"/>
      </c:barChart>
      <c:catAx>
        <c:axId val="16317001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698735"/>
        <c:crosses val="autoZero"/>
        <c:auto val="1"/>
        <c:lblAlgn val="ctr"/>
        <c:lblOffset val="100"/>
        <c:noMultiLvlLbl val="0"/>
      </c:catAx>
      <c:valAx>
        <c:axId val="16316987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tx1"/>
                    </a:solidFill>
                  </a:rPr>
                  <a:t>Return</a:t>
                </a:r>
                <a:r>
                  <a:rPr lang="en-US" baseline="0" dirty="0">
                    <a:solidFill>
                      <a:schemeClr val="tx1"/>
                    </a:solidFill>
                  </a:rPr>
                  <a:t> Rate (%)</a:t>
                </a:r>
                <a:endParaRPr lang="en-US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48403107048765875"/>
              <c:y val="0.8694088159898357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7001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>
                <a:solidFill>
                  <a:schemeClr val="tx1"/>
                </a:solidFill>
              </a:rPr>
              <a:t>Return Rate Trend</a:t>
            </a:r>
          </a:p>
        </c:rich>
      </c:tx>
      <c:layout>
        <c:manualLayout>
          <c:xMode val="edge"/>
          <c:yMode val="edge"/>
          <c:x val="0.4103507974964668"/>
          <c:y val="9.259259259259258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'Return Rates by Year'!$B$1</c:f>
              <c:strCache>
                <c:ptCount val="1"/>
                <c:pt idx="0">
                  <c:v>Percent of Returned Orders by Year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fld id="{E85966BA-238A-4105-A020-C0A5844720D6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23C-4961-807D-4D6315C287C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60038A1-CD17-4B65-A8C8-60BB48036940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B23C-4961-807D-4D6315C287C5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6C2AEF0-BA9A-42ED-9104-16229ADAD3C6}" type="VALUE">
                      <a:rPr lang="en-US" smtClean="0"/>
                      <a:pPr>
                        <a:defRPr sz="1100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2489232115216365E-2"/>
                      <c:h val="8.53240740740740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23C-4961-807D-4D6315C287C5}"/>
                </c:ext>
              </c:extLst>
            </c:dLbl>
            <c:dLbl>
              <c:idx val="3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C8A8EA3-6C3F-45DE-B7F2-E1D67302FAFF}" type="VALUE">
                      <a:rPr lang="en-US" smtClean="0"/>
                      <a:pPr>
                        <a:defRPr sz="1100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07897570495995E-2"/>
                      <c:h val="0.103842592592592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B23C-4961-807D-4D6315C287C5}"/>
                </c:ext>
              </c:extLst>
            </c:dLbl>
            <c:dLbl>
              <c:idx val="4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BDE61EB-BD8B-4541-8137-9462FA4FEAB7}" type="VALUE">
                      <a:rPr lang="en-US" smtClean="0"/>
                      <a:pPr>
                        <a:defRPr sz="1100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2264957264957264E-2"/>
                      <c:h val="9.4583333333333339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B23C-4961-807D-4D6315C287C5}"/>
                </c:ext>
              </c:extLst>
            </c:dLbl>
            <c:dLbl>
              <c:idx val="5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0233356-AC0F-4E08-88CE-EB9BBBAC7CA8}" type="VALUE">
                      <a:rPr lang="en-US" smtClean="0"/>
                      <a:pPr>
                        <a:defRPr sz="1100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0128205128205135E-2"/>
                      <c:h val="8.53240740740740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B23C-4961-807D-4D6315C287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'Return Rates by Year'!$A$2:$A$7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'Return Rates by Year'!$B$2:$B$7</c:f>
              <c:numCache>
                <c:formatCode>General</c:formatCode>
                <c:ptCount val="6"/>
                <c:pt idx="0">
                  <c:v>9.1999999999999993</c:v>
                </c:pt>
                <c:pt idx="1">
                  <c:v>9.5</c:v>
                </c:pt>
                <c:pt idx="2">
                  <c:v>9.9</c:v>
                </c:pt>
                <c:pt idx="3">
                  <c:v>9.8000000000000007</c:v>
                </c:pt>
                <c:pt idx="4">
                  <c:v>10.3</c:v>
                </c:pt>
                <c:pt idx="5">
                  <c:v>10.199999999999999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3C-4961-807D-4D6315C287C5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67843487"/>
        <c:axId val="767842047"/>
      </c:lineChart>
      <c:catAx>
        <c:axId val="7678434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>
                    <a:solidFill>
                      <a:schemeClr val="tx1"/>
                    </a:solidFill>
                  </a:rPr>
                  <a:t>Year</a:t>
                </a:r>
                <a:endParaRPr lang="en-US" dirty="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940000" spcFirstLastPara="1" vertOverflow="ellipsis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842047"/>
        <c:crosses val="autoZero"/>
        <c:auto val="1"/>
        <c:lblAlgn val="ctr"/>
        <c:lblOffset val="100"/>
        <c:noMultiLvlLbl val="0"/>
      </c:catAx>
      <c:valAx>
        <c:axId val="767842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>
                    <a:solidFill>
                      <a:schemeClr val="tx1"/>
                    </a:solidFill>
                  </a:rPr>
                  <a:t>Return Rate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784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dirty="0">
                <a:solidFill>
                  <a:schemeClr val="tx1"/>
                </a:solidFill>
                <a:latin typeface="Calibri"/>
              </a:rPr>
              <a:t>Top 3 Categories by Return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'[GB884 Business Questions Case ^N1_2026-05-19-1948.xlsx]Top 3 Returned Categories'!$B$1</c:f>
              <c:strCache>
                <c:ptCount val="1"/>
                <c:pt idx="0">
                  <c:v>Percent of Returned Orders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675884028825201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5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DB8E15E-66A5-4A03-940F-9515F8514C0C}" type="VALUE">
                      <a:rPr lang="en-US" smtClean="0"/>
                      <a:pPr>
                        <a:defRPr sz="1050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5071554011134772E-2"/>
                      <c:h val="8.7229763700351931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683-4574-AA85-122F83BC8352}"/>
                </c:ext>
              </c:extLst>
            </c:dLbl>
            <c:dLbl>
              <c:idx val="1"/>
              <c:layout>
                <c:manualLayout>
                  <c:x val="9.3412547173336321E-8"/>
                  <c:y val="2.094871530953050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5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A353BBB-4AFF-4C17-8F49-6AD04054F7C1}" type="VALUE">
                      <a:rPr lang="en-US" sz="1050" smtClean="0"/>
                      <a:pPr>
                        <a:defRPr sz="1050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 sz="1050" dirty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7670477898591323E-2"/>
                      <c:h val="7.5352100595268715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683-4574-AA85-122F83BC8352}"/>
                </c:ext>
              </c:extLst>
            </c:dLbl>
            <c:dLbl>
              <c:idx val="2"/>
              <c:layout>
                <c:manualLayout>
                  <c:x val="-4.7453573964054852E-3"/>
                  <c:y val="2.094855036031506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5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FB1F2A9-A826-4032-BD00-5BCCABFB4D65}" type="VALUE">
                      <a:rPr lang="en-US" smtClean="0"/>
                      <a:pPr>
                        <a:defRPr sz="1050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r>
                      <a:rPr lang="en-US" dirty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2118409744796922E-2"/>
                      <c:h val="7.4660633484162894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683-4574-AA85-122F83BC83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'[GB884 Business Questions Case ^N1_2026-05-19-1948.xlsx]Top 3 Returned Categories'!$A$2:$A$4</c:f>
              <c:strCache>
                <c:ptCount val="3"/>
                <c:pt idx="0">
                  <c:v>Pants</c:v>
                </c:pt>
                <c:pt idx="1">
                  <c:v>Leggings</c:v>
                </c:pt>
                <c:pt idx="2">
                  <c:v>Socks &amp; Hosiery</c:v>
                </c:pt>
              </c:strCache>
            </c:strRef>
          </c:cat>
          <c:val>
            <c:numRef>
              <c:f>'[GB884 Business Questions Case ^N1_2026-05-19-1948.xlsx]Top 3 Returned Categories'!$B$2:$B$4</c:f>
              <c:numCache>
                <c:formatCode>General</c:formatCode>
                <c:ptCount val="3"/>
                <c:pt idx="0">
                  <c:v>11</c:v>
                </c:pt>
                <c:pt idx="1">
                  <c:v>10.7</c:v>
                </c:pt>
                <c:pt idx="2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83-4574-AA85-122F83BC83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96575535"/>
        <c:axId val="796571215"/>
      </c:barChart>
      <c:catAx>
        <c:axId val="7965755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dirty="0">
                    <a:solidFill>
                      <a:schemeClr val="tx1"/>
                    </a:solidFill>
                  </a:rPr>
                  <a:t>Category</a:t>
                </a:r>
                <a:endParaRPr lang="en-US" sz="900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49852202667862355"/>
              <c:y val="0.8925339366515837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6571215"/>
        <c:crosses val="autoZero"/>
        <c:auto val="1"/>
        <c:lblAlgn val="ctr"/>
        <c:lblOffset val="100"/>
        <c:noMultiLvlLbl val="0"/>
      </c:catAx>
      <c:valAx>
        <c:axId val="796571215"/>
        <c:scaling>
          <c:orientation val="minMax"/>
          <c:min val="1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dirty="0">
                    <a:solidFill>
                      <a:schemeClr val="tx1"/>
                    </a:solidFill>
                  </a:rPr>
                  <a:t>Return Rate (%)</a:t>
                </a:r>
              </a:p>
            </c:rich>
          </c:tx>
          <c:layout>
            <c:manualLayout>
              <c:xMode val="edge"/>
              <c:yMode val="edge"/>
              <c:x val="1.6608750887419199E-2"/>
              <c:y val="0.4199903933576929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6575535"/>
        <c:crosses val="autoZero"/>
        <c:crossBetween val="between"/>
        <c:majorUnit val="0.1"/>
        <c:minorUnit val="2.0000000000000004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0.6022</cdr:x>
      <cdr:y>0.33838</cdr:y>
    </cdr:from>
    <cdr:to>
      <cdr:x>0.63534</cdr:x>
      <cdr:y>0.39383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5B55574D-703C-DD5F-5CA4-4A92291BA94F}"/>
            </a:ext>
          </a:extLst>
        </cdr:cNvPr>
        <cdr:cNvSpPr/>
      </cdr:nvSpPr>
      <cdr:spPr>
        <a:xfrm xmlns:a="http://schemas.openxmlformats.org/drawingml/2006/main">
          <a:off x="3579260" y="928239"/>
          <a:ext cx="196971" cy="152110"/>
        </a:xfrm>
        <a:prstGeom xmlns:a="http://schemas.openxmlformats.org/drawingml/2006/main" prst="ellipse">
          <a:avLst/>
        </a:prstGeom>
        <a:gradFill xmlns:a="http://schemas.openxmlformats.org/drawingml/2006/main">
          <a:gsLst>
            <a:gs pos="100000">
              <a:schemeClr val="bg1"/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</a:gradFill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kern="120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938528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1A1A1A"/>
                </a:solidFill>
                <a:latin typeface="Calibri"/>
              </a:rPr>
              <a:t>URBAN HAMSTER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073" y="2962656"/>
            <a:ext cx="11274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latin typeface="Calibri"/>
              </a:rPr>
              <a:t>C L O T H I N G</a:t>
            </a:r>
          </a:p>
        </p:txBody>
      </p:sp>
      <p:sp>
        <p:nvSpPr>
          <p:cNvPr id="6" name="Rectangle 5"/>
          <p:cNvSpPr/>
          <p:nvPr/>
        </p:nvSpPr>
        <p:spPr>
          <a:xfrm>
            <a:off x="4041648" y="3499866"/>
            <a:ext cx="4114800" cy="5029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" y="369874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 dirty="0">
                <a:solidFill>
                  <a:srgbClr val="1A1A1A"/>
                </a:solidFill>
                <a:latin typeface="Calibri"/>
              </a:rPr>
              <a:t>Return Policy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4599432"/>
            <a:ext cx="1127455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 dirty="0">
                <a:latin typeface="Calibri"/>
              </a:rPr>
              <a:t>Customer Service Team  ·  Case Study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36" y="6126480"/>
            <a:ext cx="11274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latin typeface="Calibri"/>
              </a:rPr>
              <a:t>T. Schlichtmann  |  GB884  |  May 202</a:t>
            </a:r>
            <a:r>
              <a:rPr lang="en-US" sz="1200" b="0" i="0" dirty="0">
                <a:latin typeface="Calibri"/>
              </a:rPr>
              <a:t>6</a:t>
            </a:r>
            <a:endParaRPr sz="1200" b="0" i="0" dirty="0"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573F06-2EA7-B363-13B2-11D7EDCFD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98222"/>
            <a:ext cx="3428999" cy="15848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>
                <a:solidFill>
                  <a:srgbClr val="1A1A1A"/>
                </a:solidFill>
                <a:latin typeface="Calibri"/>
              </a:rPr>
              <a:t>Our Return Rate Is Half the Industry Average — But Context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594360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5943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latin typeface="Calibri"/>
              </a:rPr>
              <a:t>Source: National Retail Federation,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72690"/>
            <a:ext cx="5669280" cy="4572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5669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latin typeface="Calibri"/>
              </a:rPr>
              <a:t>↑  Steady climb — confirms Sarah's concern about an uptick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960120"/>
            <a:ext cx="5212080" cy="539496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0" y="960120"/>
            <a:ext cx="64008" cy="539496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1110996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latin typeface="Calibri"/>
              </a:rPr>
              <a:t>What This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508760"/>
            <a:ext cx="47548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Calibri"/>
              </a:rPr>
              <a:t>A below-average return rate sounds positive. Under a strict policy, however, it may also signal:</a:t>
            </a:r>
            <a:endParaRPr lang="en-US" sz="1400" b="0" dirty="0">
              <a:latin typeface="Calibri"/>
            </a:endParaRPr>
          </a:p>
          <a:p>
            <a:pPr algn="l"/>
            <a:endParaRPr sz="1400" b="0" dirty="0">
              <a:solidFill>
                <a:srgbClr val="555555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1A1A1A"/>
                </a:solidFill>
                <a:latin typeface="Calibri"/>
              </a:rPr>
              <a:t>  •   Hesitant customers choosing not to buy at all</a:t>
            </a:r>
            <a:endParaRPr lang="en-US" sz="1400" b="0" dirty="0">
              <a:solidFill>
                <a:srgbClr val="1A1A1A"/>
              </a:solidFill>
              <a:latin typeface="Calibri"/>
            </a:endParaRPr>
          </a:p>
          <a:p>
            <a:pPr algn="l"/>
            <a:endParaRPr sz="14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1A1A1A"/>
                </a:solidFill>
                <a:latin typeface="Calibri"/>
              </a:rPr>
              <a:t>  •   Frustrated returners abandoning the brand quietly</a:t>
            </a:r>
            <a:endParaRPr lang="en-US" sz="1400" b="0" dirty="0">
              <a:solidFill>
                <a:srgbClr val="1A1A1A"/>
              </a:solidFill>
              <a:latin typeface="Calibri"/>
            </a:endParaRPr>
          </a:p>
          <a:p>
            <a:pPr algn="l"/>
            <a:endParaRPr sz="14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1A1A1A"/>
                </a:solidFill>
                <a:latin typeface="Calibri"/>
              </a:rPr>
              <a:t>  •   Hidden lost revenue that never appears in return data</a:t>
            </a:r>
          </a:p>
          <a:p>
            <a:pPr algn="l"/>
            <a:endParaRPr lang="en-US" sz="1400" b="0" dirty="0">
              <a:solidFill>
                <a:srgbClr val="1A1A1A"/>
              </a:solidFill>
              <a:latin typeface="Calibri"/>
            </a:endParaRPr>
          </a:p>
          <a:p>
            <a:pPr algn="l"/>
            <a:endParaRPr sz="14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400" b="1" dirty="0">
                <a:latin typeface="Calibri"/>
              </a:rPr>
              <a:t>Urban Hamster's rate is ~9 points below the industry norm. The question isn't just 'are returns low?' — it's 'why?'</a:t>
            </a: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6A38D077-875C-4360-049B-446F9D10F0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8814424"/>
              </p:ext>
            </p:extLst>
          </p:nvPr>
        </p:nvGraphicFramePr>
        <p:xfrm>
          <a:off x="393064" y="846875"/>
          <a:ext cx="5733415" cy="2454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6D6060F4-9069-7CD6-DD05-9108633862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8362039"/>
              </p:ext>
            </p:extLst>
          </p:nvPr>
        </p:nvGraphicFramePr>
        <p:xfrm>
          <a:off x="393064" y="3681484"/>
          <a:ext cx="5943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7E9DB464-3701-4929-1344-3361CE01A2C0}"/>
              </a:ext>
            </a:extLst>
          </p:cNvPr>
          <p:cNvSpPr/>
          <p:nvPr/>
        </p:nvSpPr>
        <p:spPr>
          <a:xfrm>
            <a:off x="4818062" y="4292289"/>
            <a:ext cx="196948" cy="152118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E9DB464-3701-4929-1344-3361CE01A2C0}"/>
              </a:ext>
            </a:extLst>
          </p:cNvPr>
          <p:cNvSpPr/>
          <p:nvPr/>
        </p:nvSpPr>
        <p:spPr>
          <a:xfrm>
            <a:off x="5693482" y="4349016"/>
            <a:ext cx="196948" cy="152118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E9DB464-3701-4929-1344-3361CE01A2C0}"/>
              </a:ext>
            </a:extLst>
          </p:cNvPr>
          <p:cNvSpPr/>
          <p:nvPr/>
        </p:nvSpPr>
        <p:spPr>
          <a:xfrm>
            <a:off x="3161297" y="4584354"/>
            <a:ext cx="196948" cy="152118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E9DB464-3701-4929-1344-3361CE01A2C0}"/>
              </a:ext>
            </a:extLst>
          </p:cNvPr>
          <p:cNvSpPr/>
          <p:nvPr/>
        </p:nvSpPr>
        <p:spPr>
          <a:xfrm>
            <a:off x="2310202" y="4837851"/>
            <a:ext cx="196948" cy="152118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E9DB464-3701-4929-1344-3361CE01A2C0}"/>
              </a:ext>
            </a:extLst>
          </p:cNvPr>
          <p:cNvSpPr/>
          <p:nvPr/>
        </p:nvSpPr>
        <p:spPr>
          <a:xfrm>
            <a:off x="1435608" y="5059539"/>
            <a:ext cx="196948" cy="152118"/>
          </a:xfrm>
          <a:prstGeom prst="ellipse">
            <a:avLst/>
          </a:prstGeom>
          <a:gradFill>
            <a:gsLst>
              <a:gs pos="100000">
                <a:schemeClr val="bg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kern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alibri"/>
              </a:rPr>
              <a:t>Returns Are Concentrated in Fit-Sensitive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502920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48640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482869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All three categories are fit-dependent</a:t>
            </a:r>
            <a:r>
              <a:rPr lang="en-US" sz="1200" dirty="0">
                <a:latin typeface="Calibri"/>
              </a:rPr>
              <a:t> with</a:t>
            </a:r>
            <a:r>
              <a:rPr sz="1200" b="0" dirty="0">
                <a:latin typeface="Calibri"/>
              </a:rPr>
              <a:t> customers </a:t>
            </a:r>
            <a:r>
              <a:rPr lang="en-US" sz="1200" dirty="0">
                <a:latin typeface="Calibri"/>
              </a:rPr>
              <a:t>unable to</a:t>
            </a:r>
            <a:r>
              <a:rPr sz="1200" b="0" dirty="0">
                <a:latin typeface="Calibri"/>
              </a:rPr>
              <a:t> try them on. This suggests sizing guidance or product descriptions may need attention, not just the return policy itself.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960120"/>
            <a:ext cx="5303520" cy="265176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92240" y="960120"/>
            <a:ext cx="64008" cy="265176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20840" y="1051560"/>
            <a:ext cx="4892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Calibri"/>
              </a:rPr>
              <a:t>Revenue Lost to Returns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508760"/>
            <a:ext cx="48920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latin typeface="Calibri"/>
              </a:rPr>
              <a:t>$1,088,903.82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2322576"/>
            <a:ext cx="4892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latin typeface="Calibri"/>
              </a:rPr>
              <a:t>in total sale price across all returned 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670048"/>
            <a:ext cx="4892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latin typeface="Calibri"/>
              </a:rPr>
              <a:t>124,877 total orders  ·  12,531 returned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794760"/>
            <a:ext cx="5303520" cy="228600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92240" y="3794760"/>
            <a:ext cx="64008" cy="228600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3886200"/>
            <a:ext cx="4892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Calibri"/>
              </a:rPr>
              <a:t>This Is Just Direct Revenue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297680"/>
            <a:ext cx="489204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Calibri"/>
              </a:rPr>
              <a:t>The $1.08M does not account for:</a:t>
            </a:r>
          </a:p>
          <a:p>
            <a:pPr algn="l"/>
            <a:r>
              <a:rPr sz="1400" b="0" dirty="0">
                <a:solidFill>
                  <a:srgbClr val="1A1A1A"/>
                </a:solidFill>
                <a:latin typeface="Calibri"/>
              </a:rPr>
              <a:t>  •   Return processing &amp; restocking costs</a:t>
            </a:r>
          </a:p>
          <a:p>
            <a:pPr algn="l"/>
            <a:r>
              <a:rPr sz="1400" b="0" dirty="0">
                <a:solidFill>
                  <a:srgbClr val="1A1A1A"/>
                </a:solidFill>
                <a:latin typeface="Calibri"/>
              </a:rPr>
              <a:t>  •   Lost future purchases from dissatisfied customers</a:t>
            </a:r>
          </a:p>
          <a:p>
            <a:pPr algn="l"/>
            <a:r>
              <a:rPr sz="1400" b="0" dirty="0">
                <a:solidFill>
                  <a:srgbClr val="1A1A1A"/>
                </a:solidFill>
                <a:latin typeface="Calibri"/>
              </a:rPr>
              <a:t>  •   Brand damage from negative reviews</a:t>
            </a:r>
            <a:endParaRPr lang="en-US" sz="1400" b="0" dirty="0">
              <a:solidFill>
                <a:srgbClr val="1A1A1A"/>
              </a:solidFill>
              <a:latin typeface="Calibri"/>
            </a:endParaRPr>
          </a:p>
          <a:p>
            <a:pPr algn="l"/>
            <a:endParaRPr sz="1200" b="0" dirty="0">
              <a:solidFill>
                <a:srgbClr val="1A1A1A"/>
              </a:solidFill>
              <a:latin typeface="Calibri"/>
            </a:endParaRPr>
          </a:p>
          <a:p>
            <a:pPr algn="l"/>
            <a:r>
              <a:rPr sz="1400" b="1" dirty="0">
                <a:latin typeface="Calibri"/>
              </a:rPr>
              <a:t>The true cost is higher.</a:t>
            </a: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6B4E14DE-4731-EFAF-0557-C6B8360762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9730952"/>
              </p:ext>
            </p:extLst>
          </p:nvPr>
        </p:nvGraphicFramePr>
        <p:xfrm>
          <a:off x="393065" y="1051560"/>
          <a:ext cx="5352600" cy="3031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alibri"/>
              </a:rPr>
              <a:t>A Strict Policy Has Hidden Costs — Here's What We Recommend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50392"/>
            <a:ext cx="594360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8348" y="1001268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latin typeface="Calibri"/>
              </a:rPr>
              <a:t>How the Policy Is Hurting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" y="1559051"/>
            <a:ext cx="54864" cy="77724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63007"/>
            <a:ext cx="438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Calibri"/>
              </a:rPr>
              <a:t>Sales</a:t>
            </a:r>
            <a:endParaRPr sz="12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927204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Calibri"/>
              </a:rPr>
              <a:t>Deters uncertain buyers from purchasing at all. Lost revenue that never appears in return data — the hidden cost of friction.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" y="2944368"/>
            <a:ext cx="54864" cy="77724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944368"/>
            <a:ext cx="438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Calibri"/>
              </a:rPr>
              <a:t>Reputation</a:t>
            </a:r>
            <a:endParaRPr sz="1200" b="1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3285982"/>
            <a:ext cx="438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Calibri"/>
              </a:rPr>
              <a:t>Difficult return experiences drive negative reviews, social media complaints, and word-of-mouth damage a refund alone can't undo.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" y="4343400"/>
            <a:ext cx="54864" cy="77724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4304647"/>
            <a:ext cx="438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Calibri"/>
              </a:rPr>
              <a:t>Return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604833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Calibri"/>
              </a:rPr>
              <a:t>Strict policies don't eliminate returns. They make them harder to manage and push customers toward chargebacks and churn instead.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latin typeface="Calibri"/>
              </a:rPr>
              <a:t>Petersen &amp; Kumar (2009); Bower &amp; Maxham (2012) — Journal of Marketing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914400"/>
            <a:ext cx="41148" cy="521208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987552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latin typeface="Calibri"/>
              </a:rPr>
              <a:t>Recommended Changes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539496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481328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Calibri"/>
              </a:rPr>
              <a:t>Extend return window to 30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64792"/>
            <a:ext cx="5394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Calibri"/>
              </a:rPr>
              <a:t>Current industry standard for online apparel. Competitors like Nordstrom (no time limit) and Zappos (365 days) set a high bar. 30 days is the minimum.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77440"/>
            <a:ext cx="539496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441448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Calibri"/>
              </a:rPr>
              <a:t>Offer prepaid return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24912"/>
            <a:ext cx="5394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Calibri"/>
              </a:rPr>
              <a:t>Paying for return shipping is the #1 reason shoppers abandon a brand after a bad experience. A prepaid label communicates trust and fairness.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337560"/>
            <a:ext cx="5394960" cy="4114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401568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Calibri"/>
              </a:rPr>
              <a:t>Keep restrictions on sale &amp; clearance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85032"/>
            <a:ext cx="5394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latin typeface="Calibri"/>
              </a:rPr>
              <a:t>This is standard practice and widely accepted by consumers. Tighter rules on discounted items are reasonable — the main policy should not be.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6309360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latin typeface="Calibri"/>
              </a:rPr>
              <a:t>NRF, 2025; Bower &amp; Maxham, 2012; Petersen &amp; Kumar, 2009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496</Words>
  <Application>Microsoft Office PowerPoint</Application>
  <PresentationFormat>Custom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Taran Schlichtmann</cp:lastModifiedBy>
  <cp:revision>1</cp:revision>
  <dcterms:created xsi:type="dcterms:W3CDTF">2013-01-27T09:14:16Z</dcterms:created>
  <dcterms:modified xsi:type="dcterms:W3CDTF">2026-05-21T22:23:16Z</dcterms:modified>
  <cp:category/>
</cp:coreProperties>
</file>