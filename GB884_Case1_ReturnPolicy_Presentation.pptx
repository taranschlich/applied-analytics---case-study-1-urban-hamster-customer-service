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alibri"/>
              </a:rPr>
              <a:t>URBAN HAMSTER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C L O T H I N G</a:t>
            </a:r>
          </a:p>
        </p:txBody>
      </p:sp>
      <p:sp>
        <p:nvSpPr>
          <p:cNvPr id="6" name="Rectangle 5"/>
          <p:cNvSpPr/>
          <p:nvPr/>
        </p:nvSpPr>
        <p:spPr>
          <a:xfrm>
            <a:off x="4041648" y="2560320"/>
            <a:ext cx="4114800" cy="5029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A1A1A"/>
                </a:solidFill>
                <a:latin typeface="Calibri"/>
              </a:rPr>
              <a:t>Return Policy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555555"/>
                </a:solidFill>
                <a:latin typeface="Calibri"/>
              </a:rPr>
              <a:t>Customer Service Team  ·  Case Study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DBDBD"/>
                </a:solidFill>
                <a:latin typeface="Calibri"/>
              </a:rPr>
              <a:t>[ Add logo above title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BDBD"/>
                </a:solidFill>
                <a:latin typeface="Calibri"/>
              </a:rPr>
              <a:t>T. Schlichtmann  |  GB884  |  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alibri"/>
              </a:rPr>
              <a:t>Our Return Rate Is Half the Industry Average — But Context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594360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Calibri"/>
              </a:rPr>
              <a:t>Return Rate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Urban Hamster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697479" cy="47548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4408" y="169164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1E8C"/>
                </a:solidFill>
                <a:latin typeface="Calibri"/>
              </a:rPr>
              <a:t>10.0%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Industry Average (Online Retail)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206136" cy="4754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3064" y="26517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55555"/>
                </a:solidFill>
                <a:latin typeface="Calibri"/>
              </a:rPr>
              <a:t>19.3%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BDBD"/>
                </a:solidFill>
                <a:latin typeface="Calibri"/>
              </a:rPr>
              <a:t>Source: National Retail Federation,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5669280" cy="4572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2219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Return Rate 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8795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9.2%  →  9.5%  →  9.9%  →  9.8%  →  10.3%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BDBD"/>
                </a:solidFill>
                <a:latin typeface="Calibri"/>
              </a:rPr>
              <a:t>2019         2020         2021         2022         2023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5604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↑  Steady climb — confirms Sarah's concern about an uptick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960120"/>
            <a:ext cx="5212080" cy="539496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960120"/>
            <a:ext cx="64008" cy="539496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10515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1E8C"/>
                </a:solidFill>
                <a:latin typeface="Calibri"/>
              </a:rPr>
              <a:t>What This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5087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A below-average return rate sounds positive. Under a strict policy, however, it may also signal: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  •   Hesitant customers choosing not to buy at all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  •   Frustrated returners abandoning the brand quietly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  •   Hidden lost revenue that never appears in return data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555555"/>
                </a:solidFill>
                <a:latin typeface="Calibri"/>
              </a:rPr>
              <a:t>Urban Hamster's rate is ~9 points below the industry norm. The question isn't just 'are returns low?' — it's 'why?'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alibri"/>
              </a:rPr>
              <a:t>Returns Are Concentrated in Fit-Sensitive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502920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Calibri"/>
              </a:rPr>
              <a:t>Top 3 Categories by Return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18688" cy="3840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85615" y="169164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1E8C"/>
                </a:solidFill>
                <a:latin typeface="Calibri"/>
              </a:rPr>
              <a:t>11.0%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Leggings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3130905" cy="384048"/>
          </a:xfrm>
          <a:prstGeom prst="rect">
            <a:avLst/>
          </a:prstGeom>
          <a:solidFill>
            <a:srgbClr val="F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7833" y="256032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7AC2"/>
                </a:solidFill>
                <a:latin typeface="Calibri"/>
              </a:rPr>
              <a:t>10.7%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Socks &amp; Hosiery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3130905" cy="38404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7833" y="34290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DBDBD"/>
                </a:solidFill>
                <a:latin typeface="Calibri"/>
              </a:rPr>
              <a:t>10.7%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48640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All three categories are fit-dependent — customers can't try them on. This suggests sizing guidance or product descriptions may need attention, not just the return policy itself.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960120"/>
            <a:ext cx="5303520" cy="265176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960120"/>
            <a:ext cx="64008" cy="265176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0515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Revenue Lost to Returns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50876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1E8C"/>
                </a:solidFill>
                <a:latin typeface="Calibri"/>
              </a:rPr>
              <a:t>$1,088,903.82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30428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in total sale price across all returned 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67004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BDBD"/>
                </a:solidFill>
                <a:latin typeface="Calibri"/>
              </a:rPr>
              <a:t>124,877 total orders  ·  12,531 returned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794760"/>
            <a:ext cx="5303520" cy="2286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3794760"/>
            <a:ext cx="64008" cy="228600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88620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This Is Just Direct Revenue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2976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The $1.08M does not account for: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•   Return processing &amp; restocking costs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•   Lost future purchases from dissatisfied customers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•   Brand damage from negative reviews</a:t>
            </a:r>
          </a:p>
          <a:p>
            <a:pPr algn="l"/>
            <a:r>
              <a:rPr sz="1100" b="1">
                <a:solidFill>
                  <a:srgbClr val="555555"/>
                </a:solidFill>
                <a:latin typeface="Calibri"/>
              </a:rPr>
              <a:t>The true cost is higher.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alibri"/>
              </a:rPr>
              <a:t>A Strict Policy Has Hidden Costs — Here's What We Recommend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594360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1E8C"/>
                </a:solidFill>
                <a:latin typeface="Calibri"/>
              </a:rPr>
              <a:t>How the Policy Is Hurting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77724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Deters uncertain buyers from purchasing at all. Lost revenue that never appears in return data — the hidden cost of friction.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54864" cy="77724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Reputation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517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Difficult return experiences drive negative reviews, social media complaints, and word-of-mouth damage a refund alone can't undo.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54864" cy="77724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33756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Return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11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Strict policies don't eliminate returns. They make them harder to manage and push customers toward chargebacks and churn instead.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BDBD"/>
                </a:solidFill>
                <a:latin typeface="Calibri"/>
              </a:rPr>
              <a:t>Petersen &amp; Kumar (2009); Bower &amp; Maxham (2012) — Journal of Marketing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914400"/>
            <a:ext cx="41148" cy="521208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9875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1E8C"/>
                </a:solidFill>
                <a:latin typeface="Calibri"/>
              </a:rPr>
              <a:t>Recommended Changes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539496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4813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Extend return window to 30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6479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Current industry standard for online apparel. Competitors like Nordstrom (no time limit) and Zappos (365 days) set a high bar. 30 days is the minimum.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77440"/>
            <a:ext cx="539496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44144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Offer prepaid return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72491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Paying for return shipping is the #1 reason shoppers abandon a brand after a bad experience. A prepaid label communicates trust and fairness.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337560"/>
            <a:ext cx="539496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Keep restrictions on sale &amp; clearance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8503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This is standard practice and widely accepted by consumers. Tighter rules on discounted items are reasonable — the main policy should not be.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6309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BDBD"/>
                </a:solidFill>
                <a:latin typeface="Calibri"/>
              </a:rPr>
              <a:t>NRF, 2025; Bower &amp; Maxham, 2012; Petersen &amp; Kumar, 2009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